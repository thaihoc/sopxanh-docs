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3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0082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1097280"/>
            <a:ext cx="3474720" cy="3474720"/>
          </a:xfrm>
          <a:prstGeom prst="ellipse">
            <a:avLst/>
          </a:prstGeom>
          <a:solidFill>
            <a:srgbClr val="2E7D52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-457200"/>
            <a:ext cx="2377440" cy="2377440"/>
          </a:xfrm>
          <a:prstGeom prst="ellipse">
            <a:avLst/>
          </a:prstGeom>
          <a:solidFill>
            <a:srgbClr val="4CAF7D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0" y="3474720"/>
            <a:ext cx="2286000" cy="2286000"/>
          </a:xfrm>
          <a:prstGeom prst="ellipse">
            <a:avLst/>
          </a:prstGeom>
          <a:solidFill>
            <a:srgbClr val="2E7D52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411480"/>
            <a:ext cx="1828800" cy="347472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411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VIETBIZ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20040" y="171907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400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ĐỔI SỐ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20040" y="2487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kern="0" spc="200" dirty="0">
                <a:solidFill>
                  <a:srgbClr val="A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DIỆN DOANH NGHIỆP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0040" y="3127248"/>
            <a:ext cx="3474720" cy="36576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D5BC"/>
                </a:solidFill>
              </a:rPr>
              <a:t>Tối ưu vận hành · Tăng trưởng bền vững · Dẫn đầu công nghệ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AA8A"/>
                </a:solidFill>
              </a:rPr>
              <a:t>www.vietbiz.vn  |  Bản quyền thuộc Vietbiz ©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11480" cy="4114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197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23"/>
                </a:solidFill>
              </a:rPr>
              <a:t>Tổng quan Chuyển đổi số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E62"/>
                </a:solidFill>
              </a:rPr>
              <a:t>Xu hướng &amp; cơ hội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234440"/>
            <a:ext cx="411480" cy="4114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0" y="1197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23"/>
                </a:solidFill>
              </a:rPr>
              <a:t>Quản lý Nhân sự – HRM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0" y="14630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E62"/>
                </a:solidFill>
              </a:rPr>
              <a:t>Lương thưởng, chấm công, BHXH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984248"/>
            <a:ext cx="411480" cy="4114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1984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1947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23"/>
                </a:solidFill>
              </a:rPr>
              <a:t>Kế toán tài chính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22128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E62"/>
                </a:solidFill>
              </a:rPr>
              <a:t>Báo cáo, tổng hợp, thuế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1984248"/>
            <a:ext cx="411480" cy="4114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1984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0" y="1947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23"/>
                </a:solidFill>
              </a:rPr>
              <a:t>Quản lý Tài sản – Assets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22128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E62"/>
                </a:solidFill>
              </a:rPr>
              <a:t>TSCĐ, công cụ dụng cụ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734056"/>
            <a:ext cx="411480" cy="4114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2734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2697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23"/>
                </a:solidFill>
              </a:rPr>
              <a:t>CRM – Quan hệ Khách hàng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29626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E62"/>
                </a:solidFill>
              </a:rPr>
              <a:t>Chăm sóc, cơ hội bán hàng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734056"/>
            <a:ext cx="411480" cy="4114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2734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0" y="2697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23"/>
                </a:solidFill>
              </a:rPr>
              <a:t>Quản lý Bán hàng &amp; POS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29626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E62"/>
                </a:solidFill>
              </a:rPr>
              <a:t>Sales, điểm bán lẻ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483864"/>
            <a:ext cx="411480" cy="4114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0040" y="3483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" y="34472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23"/>
                </a:solidFill>
              </a:rPr>
              <a:t>Quản lý Kho – Stock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37124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E62"/>
                </a:solidFill>
              </a:rPr>
              <a:t>Nhập xuất, kiểm kê, tồn kho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3483864"/>
            <a:ext cx="411480" cy="4114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00600" y="3483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03520" y="34472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23"/>
                </a:solidFill>
              </a:rPr>
              <a:t>Sản xuất – Manufacturing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03520" y="37124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E62"/>
                </a:solidFill>
              </a:rPr>
              <a:t>Lệnh SX, BOM, kiểm soát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4233672"/>
            <a:ext cx="411480" cy="4114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0040" y="4233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2960" y="41970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23"/>
                </a:solidFill>
              </a:rPr>
              <a:t>Thương mại điện tử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22960" y="44622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E62"/>
                </a:solidFill>
              </a:rPr>
              <a:t>Website, đơn hàng online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00600" y="4233672"/>
            <a:ext cx="411480" cy="41148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00600" y="4233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03520" y="41970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23"/>
                </a:solidFill>
              </a:rPr>
              <a:t>Quản lý Chất lượng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03520" y="44622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E62"/>
                </a:solidFill>
              </a:rPr>
              <a:t>QC, ISO, không phù hợp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E62"/>
                </a:solidFill>
              </a:rPr>
              <a:t>VIETBIZ  |  Giải pháp Chuyển đổi số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CẦN CHUYỂN ĐỔI SỐ?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111556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2011680" cy="73152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11704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E7D52"/>
                </a:solidFill>
              </a:rPr>
              <a:t>73%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56032" y="1773936"/>
            <a:ext cx="2011680" cy="65836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E62"/>
                </a:solidFill>
              </a:rPr>
              <a:t>Doanh nghiệp VN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E62"/>
                </a:solidFill>
              </a:rPr>
              <a:t>cần số hóa trong 3 năm tới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23160" y="111556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23160" y="1115568"/>
            <a:ext cx="2011680" cy="73152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23160" y="11704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E7D52"/>
                </a:solidFill>
              </a:rPr>
              <a:t>3.2×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423160" y="1773936"/>
            <a:ext cx="2011680" cy="65836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E62"/>
                </a:solidFill>
              </a:rPr>
              <a:t>Tăng trưởng doanh thu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E62"/>
                </a:solidFill>
              </a:rPr>
              <a:t>sau chuyển đổi số thành công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90288" y="111556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90288" y="1115568"/>
            <a:ext cx="2011680" cy="73152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90288" y="11704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E7D52"/>
                </a:solidFill>
              </a:rPr>
              <a:t>45%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590288" y="1773936"/>
            <a:ext cx="2011680" cy="65836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E62"/>
                </a:solidFill>
              </a:rPr>
              <a:t>Tiết kiệm chi phí vận hành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E62"/>
                </a:solidFill>
              </a:rPr>
              <a:t>khi ứng dụng phần mềm tích hợp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57416" y="111556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757416" y="1115568"/>
            <a:ext cx="2011680" cy="73152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57416" y="11704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E7D52"/>
                </a:solidFill>
              </a:rPr>
              <a:t>2x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757416" y="1773936"/>
            <a:ext cx="2011680" cy="658368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E62"/>
                </a:solidFill>
              </a:rPr>
              <a:t>Tốc độ ra quyết định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E62"/>
                </a:solidFill>
              </a:rPr>
              <a:t>nhờ dữ liệu thời gian thực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6032" y="272491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A5C38"/>
                </a:solidFill>
              </a:rPr>
              <a:t>THÁCH THỨC DOANH NGHIỆP ĐANG ĐỐI MẶT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6032" y="3063240"/>
            <a:ext cx="2743200" cy="1508760"/>
          </a:xfrm>
          <a:prstGeom prst="rect">
            <a:avLst/>
          </a:prstGeom>
          <a:solidFill>
            <a:srgbClr val="E8F5EE"/>
          </a:solidFill>
          <a:ln w="12700">
            <a:solidFill>
              <a:srgbClr val="A8D5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93192" y="3154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C38"/>
                </a:solidFill>
              </a:rPr>
              <a:t>Dữ liệu rời rạc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3192" y="3456432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3"/>
                </a:solidFill>
              </a:rPr>
              <a:t>Thông tin phân tán ở nhiều hệ thống, thiếu đồng nhất, khó truy xuất và báo cáo.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82112" y="3063240"/>
            <a:ext cx="2743200" cy="1508760"/>
          </a:xfrm>
          <a:prstGeom prst="rect">
            <a:avLst/>
          </a:prstGeom>
          <a:solidFill>
            <a:srgbClr val="E8F5EE"/>
          </a:solidFill>
          <a:ln w="12700">
            <a:solidFill>
              <a:srgbClr val="A8D5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19272" y="3154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C38"/>
                </a:solidFill>
              </a:rPr>
              <a:t>Xử lý thủ công chậm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19272" y="3456432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3"/>
                </a:solidFill>
              </a:rPr>
              <a:t>Quy trình nghiệp vụ phụ thuộc vào con người, dễ sai sót và tốn nhiều nhân lực.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08192" y="3063240"/>
            <a:ext cx="2743200" cy="1508760"/>
          </a:xfrm>
          <a:prstGeom prst="rect">
            <a:avLst/>
          </a:prstGeom>
          <a:solidFill>
            <a:srgbClr val="E8F5EE"/>
          </a:solidFill>
          <a:ln w="12700">
            <a:solidFill>
              <a:srgbClr val="A8D5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45352" y="3154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C38"/>
                </a:solidFill>
              </a:rPr>
              <a:t>Thiếu tầm nhìn kinh doanh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45352" y="3456432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3"/>
                </a:solidFill>
              </a:rPr>
              <a:t>Lãnh đạo không có dữ liệu tức thời để đưa ra quyết định chính xác và kịp thời.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E62"/>
                </a:solidFill>
              </a:rPr>
              <a:t>VIETBIZ  |  Giải pháp Chuyển đổi số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  |  QUẢN LÝ NHÂN SỰ &amp; TIỀN LƯƠNG – HRM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1078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C38"/>
                </a:solidFill>
              </a:rPr>
              <a:t>Tính năng chính: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" y="137160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Hồ sơ nhân sự điện tử – quản lý toàn bộ thông tin CBNV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Chấm công tự động: máy vân tay, app mobile, khuôn mặt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Tính lương tự động: lương cơ bản, OT, phụ cấp, KPI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Quản lý BHXH, BHYT, thuế TNCN tự động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Quản lý phép năm, nghỉ lễ, đơn từ online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Quy trình tuyển dụng &amp; onboarding số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Đánh giá hiệu suất KPI / OKR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Báo cáo nhân sự, biến động, chi phí nhân công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532120" y="1097280"/>
            <a:ext cx="3383280" cy="1097280"/>
          </a:xfrm>
          <a:prstGeom prst="rect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23560" y="11887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70%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583680" y="1188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Tiết kiệm thời gian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14813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E6D8"/>
                </a:solidFill>
              </a:rPr>
              <a:t>giảm tác vụ tính lương thủ công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532120" y="2359152"/>
            <a:ext cx="3383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23560" y="2450592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D52"/>
                </a:solidFill>
              </a:rPr>
              <a:t>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583680" y="2450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C38"/>
                </a:solidFill>
              </a:rPr>
              <a:t>Chính xác 99.9%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743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E62"/>
                </a:solidFill>
              </a:rPr>
              <a:t>sai sót nhờ tự động hóa hoàn toàn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532120" y="3621024"/>
            <a:ext cx="3383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23560" y="3712464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D52"/>
                </a:solidFill>
              </a:rPr>
              <a:t>24/7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583680" y="37124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C38"/>
                </a:solidFill>
              </a:rPr>
              <a:t>Truy cập mọi lúc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40050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E62"/>
                </a:solidFill>
              </a:rPr>
              <a:t>qua app mobile iOS &amp; Android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E62"/>
                </a:solidFill>
              </a:rPr>
              <a:t>VIETBIZ  |  Giải pháp Chuyển đổi số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 |  KẾ TOÁN TÀI CHÍNH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115568"/>
            <a:ext cx="27889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73152" cy="1572768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20624" y="1316736"/>
            <a:ext cx="365760" cy="365760"/>
          </a:xfrm>
          <a:prstGeom prst="ellipse">
            <a:avLst/>
          </a:prstGeom>
          <a:solidFill>
            <a:srgbClr val="E8F5EE"/>
          </a:solidFill>
          <a:ln w="12700">
            <a:solidFill>
              <a:srgbClr val="A8D5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0624" y="1316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52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12984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38"/>
                </a:solidFill>
              </a:rPr>
              <a:t>Kế toán tổng hợp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96112" y="162763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3"/>
                </a:solidFill>
              </a:rPr>
              <a:t>Bút toán, sổ cái, kết chuyển tự động cuối kỳ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115568"/>
            <a:ext cx="27889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115568"/>
            <a:ext cx="73152" cy="1572768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64992" y="1316736"/>
            <a:ext cx="365760" cy="365760"/>
          </a:xfrm>
          <a:prstGeom prst="ellipse">
            <a:avLst/>
          </a:prstGeom>
          <a:solidFill>
            <a:srgbClr val="E8F5EE"/>
          </a:solidFill>
          <a:ln w="12700">
            <a:solidFill>
              <a:srgbClr val="A8D5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64992" y="1316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52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0" y="12984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38"/>
                </a:solidFill>
              </a:rPr>
              <a:t>Công nợ phải thu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840480" y="162763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3"/>
                </a:solidFill>
              </a:rPr>
              <a:t>Theo dõi công nợ KH, nhắc nợ, đối chiếu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44768" y="1115568"/>
            <a:ext cx="27889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44768" y="1115568"/>
            <a:ext cx="73152" cy="1572768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09360" y="1316736"/>
            <a:ext cx="365760" cy="365760"/>
          </a:xfrm>
          <a:prstGeom prst="ellipse">
            <a:avLst/>
          </a:prstGeom>
          <a:solidFill>
            <a:srgbClr val="E8F5EE"/>
          </a:solidFill>
          <a:ln w="12700">
            <a:solidFill>
              <a:srgbClr val="A8D5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09360" y="1316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52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84848" y="12984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38"/>
                </a:solidFill>
              </a:rPr>
              <a:t>Công nợ phải trả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784848" y="162763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3"/>
                </a:solidFill>
              </a:rPr>
              <a:t>Quản lý nhà cung cấp, thanh toán, chiết khấu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" y="2944368"/>
            <a:ext cx="27889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56032" y="2944368"/>
            <a:ext cx="73152" cy="1572768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20624" y="3145536"/>
            <a:ext cx="365760" cy="365760"/>
          </a:xfrm>
          <a:prstGeom prst="ellipse">
            <a:avLst/>
          </a:prstGeom>
          <a:solidFill>
            <a:srgbClr val="E8F5EE"/>
          </a:solidFill>
          <a:ln w="12700">
            <a:solidFill>
              <a:srgbClr val="A8D5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20624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52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96112" y="31272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38"/>
                </a:solidFill>
              </a:rPr>
              <a:t>Ngân quỹ &amp; Ngân hàng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96112" y="345643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3"/>
                </a:solidFill>
              </a:rPr>
              <a:t>Thu chi tiền mặt, liên kết ngân hàng, đối chiếu sao kê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2944368"/>
            <a:ext cx="27889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00400" y="2944368"/>
            <a:ext cx="73152" cy="1572768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364992" y="3145536"/>
            <a:ext cx="365760" cy="365760"/>
          </a:xfrm>
          <a:prstGeom prst="ellipse">
            <a:avLst/>
          </a:prstGeom>
          <a:solidFill>
            <a:srgbClr val="E8F5EE"/>
          </a:solidFill>
          <a:ln w="12700">
            <a:solidFill>
              <a:srgbClr val="A8D5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64992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52"/>
                </a:solidFill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40480" y="31272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38"/>
                </a:solidFill>
              </a:rPr>
              <a:t>Báo cáo tài chính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840480" y="345643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3"/>
                </a:solidFill>
              </a:rPr>
              <a:t>B01, B02, B03, B04 tự động theo TT133/TT200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44768" y="2944368"/>
            <a:ext cx="27889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144768" y="2944368"/>
            <a:ext cx="73152" cy="1572768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309360" y="3145536"/>
            <a:ext cx="365760" cy="365760"/>
          </a:xfrm>
          <a:prstGeom prst="ellipse">
            <a:avLst/>
          </a:prstGeom>
          <a:solidFill>
            <a:srgbClr val="E8F5EE"/>
          </a:solidFill>
          <a:ln w="12700">
            <a:solidFill>
              <a:srgbClr val="A8D5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09360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52"/>
                </a:solidFill>
              </a:rPr>
              <a:t>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84848" y="31272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38"/>
                </a:solidFill>
              </a:rPr>
              <a:t>Kê khai thuế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784848" y="345643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3"/>
                </a:solidFill>
              </a:rPr>
              <a:t>VAT, TNCN, TNDN – kết nối HTKK, VNPT-Invoice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E62"/>
                </a:solidFill>
              </a:rPr>
              <a:t>VIETBIZ  |  Giải pháp Chuyển đổi số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 |  QUẢN LÝ TÀI SẢN &amp; CÔNG CỤ DỤNG CỤ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41605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097280"/>
            <a:ext cx="4160520" cy="457200"/>
          </a:xfrm>
          <a:prstGeom prst="rect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TÀI SẢN CỐ ĐỊNH (TSCĐ)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3931920" cy="27432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Đăng ký, theo dõi vòng đời tài sản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Tính khấu hao tự động (đường thẳng, số dư giảm dần)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Quản lý vị trí, bộ phận sử dụng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Lịch sử bảo trì, sửa chữa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Kiểm kê định kỳ có hỗ trợ QR code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Thanh lý, điều chuyển tài sản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27448" y="1097280"/>
            <a:ext cx="41605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27448" y="1097280"/>
            <a:ext cx="4160520" cy="45720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28032" y="10972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CÔNG CỤ DỤNG CỤ (CCDC)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627632"/>
            <a:ext cx="3931920" cy="27432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Cấp phát, thu hồi công cụ dụng cụ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Phân bổ chi phí công cụ theo bộ phận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Cảnh báo công cụ hết hạn sử dụng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Báo cáo tồn kho công cụ theo kho/phòng ban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Tích hợp với kế toán để hạch toán tự động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Quét mã vạch khi xuất/nhập công cụ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E62"/>
                </a:solidFill>
              </a:rPr>
              <a:t>VIETBIZ  |  Giải pháp Chuyển đổi số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 |  CRM – QUẢN LÝ QUAN HỆ KHÁCH HÀNG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1645920" cy="530352"/>
          </a:xfrm>
          <a:prstGeom prst="rect">
            <a:avLst/>
          </a:prstGeom>
          <a:solidFill>
            <a:srgbClr val="E8F5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901952" y="1097280"/>
            <a:ext cx="91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109728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5C38"/>
                </a:solidFill>
              </a:rPr>
              <a:t>Tiếp cận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93392" y="1097280"/>
            <a:ext cx="1645920" cy="530352"/>
          </a:xfrm>
          <a:prstGeom prst="rect">
            <a:avLst/>
          </a:prstGeom>
          <a:solidFill>
            <a:srgbClr val="D4ED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39312" y="1097280"/>
            <a:ext cx="91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93392" y="109728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5C38"/>
                </a:solidFill>
              </a:rPr>
              <a:t>Tìm hiểu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30752" y="1097280"/>
            <a:ext cx="1645920" cy="530352"/>
          </a:xfrm>
          <a:prstGeom prst="rect">
            <a:avLst/>
          </a:prstGeom>
          <a:solidFill>
            <a:srgbClr val="B8DFC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376672" y="1097280"/>
            <a:ext cx="91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30752" y="109728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5C38"/>
                </a:solidFill>
              </a:rPr>
              <a:t>Báo giá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68112" y="1097280"/>
            <a:ext cx="1645920" cy="530352"/>
          </a:xfrm>
          <a:prstGeom prst="rect">
            <a:avLst/>
          </a:prstGeom>
          <a:solidFill>
            <a:srgbClr val="9CCFB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14032" y="1097280"/>
            <a:ext cx="91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68112" y="109728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5C38"/>
                </a:solidFill>
              </a:rPr>
              <a:t>Đàm phán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05472" y="1097280"/>
            <a:ext cx="1645920" cy="530352"/>
          </a:xfrm>
          <a:prstGeom prst="rect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05472" y="109728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Chốt deal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6032" y="1828800"/>
            <a:ext cx="425196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56032" y="1828800"/>
            <a:ext cx="4251960" cy="54864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0624" y="19568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38"/>
                </a:solidFill>
              </a:rPr>
              <a:t>Quản lý hồ sơ khách hàng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20624" y="228600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3"/>
                </a:solidFill>
              </a:rPr>
              <a:t>Thông tin KH tập trung, lịch sử giao dịch, phân loại KH theo nhóm/tiềm năng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1828800"/>
            <a:ext cx="425196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09160" y="1828800"/>
            <a:ext cx="4251960" cy="54864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73752" y="19568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38"/>
                </a:solidFill>
              </a:rPr>
              <a:t>Cơ hội bán hàng (Pipeline)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73752" y="228600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3"/>
                </a:solidFill>
              </a:rPr>
              <a:t>Theo dõi cơ hội theo từng giai đoạn, phân công nhân viên, dự báo doanh thu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337560"/>
            <a:ext cx="425196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56032" y="3337560"/>
            <a:ext cx="4251960" cy="54864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20624" y="3465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38"/>
                </a:solidFill>
              </a:rPr>
              <a:t>Chăm sóc &amp; hậu mãi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20624" y="379476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3"/>
                </a:solidFill>
              </a:rPr>
              <a:t>Lịch nhắc nhở, email/SMS tự động, theo dõi hài lòng KH, khiếu nại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337560"/>
            <a:ext cx="425196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09160" y="3337560"/>
            <a:ext cx="4251960" cy="54864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73752" y="34655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38"/>
                </a:solidFill>
              </a:rPr>
              <a:t>Báo cáo &amp; Phân tích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73752" y="379476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3"/>
                </a:solidFill>
              </a:rPr>
              <a:t>Dashboard trực quan, tỷ lệ chuyển đổi, hiệu suất sales, dự báo doanh số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E62"/>
                </a:solidFill>
              </a:rPr>
              <a:t>VIETBIZ  |  Giải pháp Chuyển đổi số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 |  QUẢN LÝ BÁN HÀNG &amp; ĐIỂM BÁN LẺ (POS)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4206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4206240" cy="438912"/>
          </a:xfrm>
          <a:prstGeom prst="rect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07899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QUẢN LÝ BÁN HÀNG (SALES)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7472" y="1572768"/>
            <a:ext cx="4005072" cy="29260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Báo giá, đơn đặt hàng, hợp đồng bán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Xuất hóa đơn GTGT điện tử (e-Invoice)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Theo dõi công nợ khách hàng theo đơn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Chính sách giá, chiết khấu, khuyến mãi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Quản lý hoa hồng &amp; doanh số nhân viên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Báo cáo bán hàng theo kênh/SP/KH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81728" y="1078992"/>
            <a:ext cx="4206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81728" y="1078992"/>
            <a:ext cx="4206240" cy="438912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73168" y="107899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ĐIỂM BÁN LẺ (POS)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73168" y="1572768"/>
            <a:ext cx="4005072" cy="29260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Giao diện bán hàng nhanh trên tablet/PC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Quét mã vạch, hỗ trợ đa điểm bán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Thanh toán đa phương thức: tiền mặt, QR, thẻ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Quản lý ca làm việc, két tiền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In hóa đơn nhiệt tại quầy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23"/>
                </a:solidFill>
              </a:rPr>
              <a:t>Đồng bộ tồn kho thời gian thực với kho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E62"/>
                </a:solidFill>
              </a:rPr>
              <a:t>VIETBIZ  |  Giải pháp Chuyển đổi số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  |  QUẢN LÝ KHO – STOCK MANAGEMENT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115568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2788920" cy="73152"/>
          </a:xfrm>
          <a:prstGeom prst="rect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3192" y="1252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38"/>
                </a:solidFill>
              </a:rPr>
              <a:t>Nhập – Xuất kho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93192" y="157276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3"/>
                </a:solidFill>
              </a:rPr>
              <a:t>Phiếu nhập/xuất kho điện tử, phê duyệt online, lịch sử giao dịch đầy đủ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115568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1115568"/>
            <a:ext cx="2788920" cy="73152"/>
          </a:xfrm>
          <a:prstGeom prst="rect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37560" y="1252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38"/>
                </a:solidFill>
              </a:rPr>
              <a:t>Quản lý đa kho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37560" y="157276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3"/>
                </a:solidFill>
              </a:rPr>
              <a:t>Nhiều kho, nhiều vị trí; chuyển kho nội bộ; theo dõi tồn theo từng kho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44768" y="1115568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44768" y="1115568"/>
            <a:ext cx="2788920" cy="73152"/>
          </a:xfrm>
          <a:prstGeom prst="rect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81928" y="1252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38"/>
                </a:solidFill>
              </a:rPr>
              <a:t>Kiểm kê &amp; điều chỉnh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81928" y="157276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3"/>
                </a:solidFill>
              </a:rPr>
              <a:t>Kiểm kê định kỳ, hỗ trợ thiết bị di động, tự động điều chỉnh chênh lệch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2944368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6032" y="2944368"/>
            <a:ext cx="2788920" cy="73152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93192" y="3081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38"/>
                </a:solidFill>
              </a:rPr>
              <a:t>Mã vạch / QR Code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93192" y="340156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3"/>
                </a:solidFill>
              </a:rPr>
              <a:t>Quản lý hàng hóa bằng barcode, QR; in tem nhãn; quét khi nhập/xuất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944368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0" y="2944368"/>
            <a:ext cx="2788920" cy="73152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37560" y="3081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38"/>
                </a:solidFill>
              </a:rPr>
              <a:t>Cảnh báo tồn kho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37560" y="340156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3"/>
                </a:solidFill>
              </a:rPr>
              <a:t>Cảnh báo hết hàng, tồn kho tối thiểu/tối đa, cảnh báo hàng sắp hết hạn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44768" y="2944368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44768" y="2944368"/>
            <a:ext cx="2788920" cy="73152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81928" y="3081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38"/>
                </a:solidFill>
              </a:rPr>
              <a:t>Báo cáo kho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81928" y="340156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3"/>
                </a:solidFill>
              </a:rPr>
              <a:t>Tồn kho tức thời, xuất nhập tồn, nhập/xuất theo nhà CC, theo sản phẩm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E62"/>
                </a:solidFill>
              </a:rPr>
              <a:t>VIETBIZ  |  Giải pháp Chuyển đổi số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07  |  QUẢN LÝ SẢN XUẤT – MANUFACTURING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1572768" cy="502920"/>
          </a:xfrm>
          <a:prstGeom prst="rect">
            <a:avLst/>
          </a:prstGeom>
          <a:solidFill>
            <a:srgbClr val="E8F5EE"/>
          </a:solidFill>
          <a:ln w="12700">
            <a:solidFill>
              <a:srgbClr val="A8D5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10972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C38"/>
                </a:solidFill>
              </a:rPr>
              <a:t>Kế hoạch SX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1097280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CAF7D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11680" y="1097280"/>
            <a:ext cx="1572768" cy="502920"/>
          </a:xfrm>
          <a:prstGeom prst="rect">
            <a:avLst/>
          </a:prstGeom>
          <a:solidFill>
            <a:srgbClr val="E8F5EE"/>
          </a:solidFill>
          <a:ln w="12700">
            <a:solidFill>
              <a:srgbClr val="A8D5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0" y="10972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C38"/>
                </a:solidFill>
              </a:rPr>
              <a:t>Lệnh SX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84448" y="1097280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CAF7D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67328" y="1097280"/>
            <a:ext cx="1572768" cy="502920"/>
          </a:xfrm>
          <a:prstGeom prst="rect">
            <a:avLst/>
          </a:prstGeom>
          <a:solidFill>
            <a:srgbClr val="E8F5EE"/>
          </a:solidFill>
          <a:ln w="12700">
            <a:solidFill>
              <a:srgbClr val="A8D5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67328" y="10972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C38"/>
                </a:solidFill>
              </a:rPr>
              <a:t>Định mức BOM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40096" y="1097280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CAF7D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522976" y="1097280"/>
            <a:ext cx="1572768" cy="502920"/>
          </a:xfrm>
          <a:prstGeom prst="rect">
            <a:avLst/>
          </a:prstGeom>
          <a:solidFill>
            <a:srgbClr val="E8F5EE"/>
          </a:solidFill>
          <a:ln w="12700">
            <a:solidFill>
              <a:srgbClr val="A8D5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22976" y="10972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C38"/>
                </a:solidFill>
              </a:rPr>
              <a:t>Theo dõi WIP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95744" y="1097280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CAF7D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278624" y="1097280"/>
            <a:ext cx="1572768" cy="502920"/>
          </a:xfrm>
          <a:prstGeom prst="rect">
            <a:avLst/>
          </a:prstGeom>
          <a:solidFill>
            <a:srgbClr val="2E7D52"/>
          </a:solidFill>
          <a:ln w="12700">
            <a:solidFill>
              <a:srgbClr val="A8D5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78624" y="10972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Nhập kho TP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1828800"/>
            <a:ext cx="42519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56032" y="1828800"/>
            <a:ext cx="64008" cy="1389888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8912" y="1965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38"/>
                </a:solidFill>
              </a:rPr>
              <a:t>Định mức sản xuất (BOM)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38912" y="2286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3"/>
                </a:solidFill>
              </a:rPr>
              <a:t>Quản lý cấu trúc sản phẩm đa cấp, tính nguyên vật liệu tự động, kiểm soát tỷ lệ hao hụt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1828800"/>
            <a:ext cx="42519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09160" y="1828800"/>
            <a:ext cx="64008" cy="1389888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1965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38"/>
                </a:solidFill>
              </a:rPr>
              <a:t>Lệnh sản xuất (Work Order)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92040" y="2286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3"/>
                </a:solidFill>
              </a:rPr>
              <a:t>Tạo và theo dõi lệnh SX, phân công ca làm việc, cập nhật tiến độ theo thời gian thực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383280"/>
            <a:ext cx="42519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56032" y="3383280"/>
            <a:ext cx="64008" cy="1389888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38912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38"/>
                </a:solidFill>
              </a:rPr>
              <a:t>Kiểm soát WIP &amp; NVL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38912" y="38404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3"/>
                </a:solidFill>
              </a:rPr>
              <a:t>Theo dõi nguyên vật liệu trong quá trình SX, cảnh báo thiếu hụt, tối ưu dự trữ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383280"/>
            <a:ext cx="42519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09160" y="3383280"/>
            <a:ext cx="64008" cy="1389888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92040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38"/>
                </a:solidFill>
              </a:rPr>
              <a:t>Phân tích hiệu suất SX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92040" y="38404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3"/>
                </a:solidFill>
              </a:rPr>
              <a:t>OEE (hiệu suất thiết bị tổng thể), chi phí SX, năng suất theo ca/dây chuyền/nhà máy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E62"/>
                </a:solidFill>
              </a:rPr>
              <a:t>VIETBIZ  |  Giải pháp Chuyển đổi số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08  |  TRANG THƯƠNG MẠI ĐIỆN TỬ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50749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097280"/>
            <a:ext cx="54864" cy="704088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170432"/>
            <a:ext cx="4828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C38"/>
                </a:solidFill>
              </a:rPr>
              <a:t>Website bán hàng chuyên nghiệp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42646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3"/>
                </a:solidFill>
              </a:rPr>
              <a:t>Thiết kế theo thương hiệu, chuẩn SEO, responsive mobile, tốc độ cao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" y="1869948"/>
            <a:ext cx="5074920" cy="704088"/>
          </a:xfrm>
          <a:prstGeom prst="rect">
            <a:avLst/>
          </a:prstGeom>
          <a:solidFill>
            <a:srgbClr val="E8F5EE"/>
          </a:solidFill>
          <a:ln w="12700">
            <a:solidFill>
              <a:srgbClr val="D4E0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" y="1869948"/>
            <a:ext cx="54864" cy="704088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1943100"/>
            <a:ext cx="4828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C38"/>
                </a:solidFill>
              </a:rPr>
              <a:t>Quản lý sản phẩm &amp; danh mục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219913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3"/>
                </a:solidFill>
              </a:rPr>
              <a:t>Nhiều biến thể (màu/size), ảnh đa chiều, mô tả SEO, giá riêng theo nhóm KH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" y="2642616"/>
            <a:ext cx="50749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6032" y="2642616"/>
            <a:ext cx="54864" cy="704088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" y="2715768"/>
            <a:ext cx="4828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C38"/>
                </a:solidFill>
              </a:rPr>
              <a:t>Xử lý đơn hàng online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2971800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3"/>
                </a:solidFill>
              </a:rPr>
              <a:t>Nhận đơn tự động, thông báo KH, tích hợp vận chuyển (GHN, GHTK, Viettel Post)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" y="3415284"/>
            <a:ext cx="5074920" cy="704088"/>
          </a:xfrm>
          <a:prstGeom prst="rect">
            <a:avLst/>
          </a:prstGeom>
          <a:solidFill>
            <a:srgbClr val="E8F5EE"/>
          </a:solidFill>
          <a:ln w="12700">
            <a:solidFill>
              <a:srgbClr val="D4E0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6032" y="3415284"/>
            <a:ext cx="54864" cy="704088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4048" y="3488436"/>
            <a:ext cx="4828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C38"/>
                </a:solidFill>
              </a:rPr>
              <a:t>Thanh toán đa kênh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" y="3744468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3"/>
                </a:solidFill>
              </a:rPr>
              <a:t>VNPAY, Momo, ZaloPay, COD, chuyển khoản – đối soát tự động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4187952"/>
            <a:ext cx="50749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0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6032" y="4187952"/>
            <a:ext cx="54864" cy="704088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4048" y="4261104"/>
            <a:ext cx="4828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C38"/>
                </a:solidFill>
              </a:rPr>
              <a:t>Tích hợp sàn TMĐT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" y="4517136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3"/>
                </a:solidFill>
              </a:rPr>
              <a:t>Lazada, Shopee, Tiki – đồng bộ sản phẩm, đơn hàng, tồn kho tự động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77840" y="1097280"/>
            <a:ext cx="3337560" cy="3675888"/>
          </a:xfrm>
          <a:prstGeom prst="rect">
            <a:avLst/>
          </a:prstGeom>
          <a:solidFill>
            <a:srgbClr val="1A5C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69280" y="11887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TẠI SAO CẦN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TMĐT?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669280" y="1938528"/>
            <a:ext cx="3154680" cy="822960"/>
          </a:xfrm>
          <a:prstGeom prst="rect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669280" y="1984248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70%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601968" y="202996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Người tiêu dùng VN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mua hàng online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669280" y="2898648"/>
            <a:ext cx="3154680" cy="822960"/>
          </a:xfrm>
          <a:prstGeom prst="rect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669280" y="2944368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25%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601968" y="299008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Tăng trưởng TMĐT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mỗi năm tại VN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69280" y="3858768"/>
            <a:ext cx="3154680" cy="822960"/>
          </a:xfrm>
          <a:prstGeom prst="rect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669280" y="3904488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3×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601968" y="395020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Mở rộng thị trường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không giới hạn địa lý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E62"/>
                </a:solidFill>
              </a:rPr>
              <a:t>VIETBIZ  |  Giải pháp Chuyển đổi số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09  |  QUẢN LÝ CHẤT LƯỢNG – QMS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926080" cy="2926080"/>
          </a:xfrm>
          <a:prstGeom prst="ellipse">
            <a:avLst/>
          </a:prstGeom>
          <a:solidFill>
            <a:srgbClr val="E8F5EE"/>
          </a:solidFill>
          <a:ln w="25400">
            <a:solidFill>
              <a:srgbClr val="A8D5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208483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5C38"/>
                </a:solidFill>
              </a:rPr>
              <a:t>VÒNG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5C38"/>
                </a:solidFill>
              </a:rPr>
              <a:t>PDCA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5C38"/>
                </a:solidFill>
              </a:rPr>
              <a:t>CHẤT LƯỢNG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381447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52"/>
                </a:solidFill>
              </a:rPr>
              <a:t>PLAN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2E7D52"/>
                </a:solidFill>
              </a:rPr>
              <a:t>Lập kế hoạch chất lượng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993392" y="2188933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52"/>
                </a:solidFill>
              </a:rPr>
              <a:t>DO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2E7D52"/>
                </a:solidFill>
              </a:rPr>
              <a:t>Thực hiện kiểm soát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8680" y="307238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52"/>
                </a:solidFill>
              </a:rPr>
              <a:t>CHECK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2E7D52"/>
                </a:solidFill>
              </a:rPr>
              <a:t>Kiểm tra, đo lường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8288" y="2148840"/>
            <a:ext cx="1517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52"/>
                </a:solidFill>
              </a:rPr>
              <a:t>ACT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2E7D52"/>
                </a:solidFill>
              </a:rPr>
              <a:t>Cải tiến liên tục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47872" y="1097280"/>
            <a:ext cx="537667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47872" y="1097280"/>
            <a:ext cx="64008" cy="82296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03320" y="11887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38"/>
                </a:solidFill>
              </a:rPr>
              <a:t>Kiểm soát tài liệu ISO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703320" y="144475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3"/>
                </a:solidFill>
              </a:rPr>
              <a:t>Quản lý tài liệu, phiên bản, phê duyệt theo quy trình ISO 9001:2015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47872" y="2057400"/>
            <a:ext cx="537667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547872" y="2057400"/>
            <a:ext cx="64008" cy="82296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03320" y="214884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38"/>
                </a:solidFill>
              </a:rPr>
              <a:t>Phiếu không phù hợp (NCR)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703320" y="240487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3"/>
                </a:solidFill>
              </a:rPr>
              <a:t>Ghi nhận sự không phù hợp, phân tích nguyên nhân, hành động khắc phục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47872" y="3017520"/>
            <a:ext cx="537667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547872" y="3017520"/>
            <a:ext cx="64008" cy="82296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703320" y="31089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38"/>
                </a:solidFill>
              </a:rPr>
              <a:t>Kiểm tra chất lượng (QC)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703320" y="336499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3"/>
                </a:solidFill>
              </a:rPr>
              <a:t>Lập kế hoạch kiểm tra, checklist QC theo công đoạn, lưu hồ sơ kiểm tra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47872" y="3977640"/>
            <a:ext cx="537667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547872" y="3977640"/>
            <a:ext cx="64008" cy="82296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703320" y="40690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C38"/>
                </a:solidFill>
              </a:rPr>
              <a:t>Cải tiến liên tục (CAPA)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703320" y="432511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23"/>
                </a:solidFill>
              </a:rPr>
              <a:t>Hành động khắc phục, phòng ngừa; theo dõi hiệu lực và đóng CAPA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E62"/>
                </a:solidFill>
              </a:rPr>
              <a:t>VIETBIZ  |  Giải pháp Chuyển đổi số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LỘ TRÌNH TRIỂN KHAI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304288"/>
            <a:ext cx="8321040" cy="54864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60704" y="2176272"/>
            <a:ext cx="274320" cy="274320"/>
          </a:xfrm>
          <a:prstGeom prst="ellipse">
            <a:avLst/>
          </a:prstGeom>
          <a:solidFill>
            <a:srgbClr val="1A5C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097280"/>
            <a:ext cx="2011680" cy="292608"/>
          </a:xfrm>
          <a:prstGeom prst="rect">
            <a:avLst/>
          </a:prstGeom>
          <a:solidFill>
            <a:srgbClr val="1A5C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097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Tháng 1–2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7472" y="14173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5C38"/>
                </a:solidFill>
              </a:rPr>
              <a:t>Phân tích &amp; Thiết kế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542032"/>
            <a:ext cx="2011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7472" y="2542032"/>
            <a:ext cx="2011680" cy="54864"/>
          </a:xfrm>
          <a:prstGeom prst="rect">
            <a:avLst/>
          </a:prstGeom>
          <a:solidFill>
            <a:srgbClr val="1A5C3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633472"/>
            <a:ext cx="1828800" cy="164592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E23"/>
                </a:solidFill>
              </a:rPr>
              <a:t>Khảo sát quy trình nghiệp vụ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E23"/>
                </a:solidFill>
              </a:rPr>
              <a:t>Thiết kế hệ thống, cơ sở dữ liệu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E23"/>
                </a:solidFill>
              </a:rPr>
              <a:t>Phê duyệt giải pháp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36976" y="2176272"/>
            <a:ext cx="274320" cy="27432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23744" y="1097280"/>
            <a:ext cx="2011680" cy="292608"/>
          </a:xfrm>
          <a:prstGeom prst="rect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23744" y="1097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Tháng 2–4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23744" y="14173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5C38"/>
                </a:solidFill>
              </a:rPr>
              <a:t>Triển khai &amp; Cấu hình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23744" y="2542032"/>
            <a:ext cx="2011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23744" y="2542032"/>
            <a:ext cx="2011680" cy="54864"/>
          </a:xfrm>
          <a:prstGeom prst="rect">
            <a:avLst/>
          </a:prstGeom>
          <a:solidFill>
            <a:srgbClr val="2E7D5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615184" y="2633472"/>
            <a:ext cx="1828800" cy="164592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E23"/>
                </a:solidFill>
              </a:rPr>
              <a:t>Cài đặt hạ tầng, phần mềm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E23"/>
                </a:solidFill>
              </a:rPr>
              <a:t>Cấu hình theo đặc thù DN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E23"/>
                </a:solidFill>
              </a:rPr>
              <a:t>Migrate dữ liệu cũ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13248" y="2176272"/>
            <a:ext cx="274320" cy="274320"/>
          </a:xfrm>
          <a:prstGeom prst="ellipse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0016" y="1097280"/>
            <a:ext cx="2011680" cy="292608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00016" y="1097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Tháng 4–5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00016" y="14173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5C38"/>
                </a:solidFill>
              </a:rPr>
              <a:t>Đào tạo &amp; UAT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0016" y="2542032"/>
            <a:ext cx="2011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0016" y="2542032"/>
            <a:ext cx="2011680" cy="54864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91456" y="2633472"/>
            <a:ext cx="1828800" cy="164592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E23"/>
                </a:solidFill>
              </a:rPr>
              <a:t>Đào tạo người dùng cuối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E23"/>
                </a:solidFill>
              </a:rPr>
              <a:t>Kiểm thử chấp nhận (UAT)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E23"/>
                </a:solidFill>
              </a:rPr>
              <a:t>Chạy song song thực tế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589520" y="2176272"/>
            <a:ext cx="274320" cy="2743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876288" y="1097280"/>
            <a:ext cx="2011680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76288" y="1097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Tháng 5+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76288" y="14173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5C38"/>
                </a:solidFill>
              </a:rPr>
              <a:t>Go-Live &amp; Hỗ trợ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76288" y="2542032"/>
            <a:ext cx="2011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876288" y="2542032"/>
            <a:ext cx="20116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967728" y="2633472"/>
            <a:ext cx="1828800" cy="164592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E23"/>
                </a:solidFill>
              </a:rPr>
              <a:t>Chính thức vận hành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E23"/>
                </a:solidFill>
              </a:rPr>
              <a:t>Hỗ trợ 24/7 giai đoạn đầu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E23"/>
                </a:solidFill>
              </a:rPr>
              <a:t>Tối ưu liên tục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E62"/>
                </a:solidFill>
              </a:rPr>
              <a:t>VIETBIZ  |  Giải pháp Chuyển đổi số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5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2E7D52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3200400"/>
            <a:ext cx="2743200" cy="2743200"/>
          </a:xfrm>
          <a:prstGeom prst="ellipse">
            <a:avLst/>
          </a:prstGeom>
          <a:solidFill>
            <a:srgbClr val="4CAF7D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411480"/>
            <a:ext cx="1828800" cy="347472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411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VIETBIZ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ĐẦU HÀNH TRÌNH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0040" y="16642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ĐỔI SỐ NGAY HÔM NAY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320040" y="2395728"/>
            <a:ext cx="3200400" cy="36576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2542032"/>
            <a:ext cx="7772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A8D5BC"/>
                </a:solidFill>
              </a:rPr>
              <a:t>📞  Hotline:  1900 xxxx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A8D5BC"/>
                </a:solidFill>
              </a:rPr>
              <a:t>✉️   Email:   info@vietbiz.vn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A8D5BC"/>
                </a:solidFill>
              </a:rPr>
              <a:t>🌐  Website: www.vietbiz.vn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A8D5BC"/>
                </a:solidFill>
              </a:rPr>
              <a:t>📍  Địa chỉ: TP. Hồ Chí Minh | Hà Nội | Đà Nẵng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4370832"/>
            <a:ext cx="2926080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437083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ĐĂNG KÝ TƯ VẤN MIỄN PHÍ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4663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AAA8A"/>
                </a:solidFill>
              </a:rPr>
              <a:t>Cảm ơn quý doanh nghiệp đã lắng nghe!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5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645920"/>
            <a:ext cx="5029200" cy="5029200"/>
          </a:xfrm>
          <a:prstGeom prst="ellipse">
            <a:avLst/>
          </a:prstGeom>
          <a:solidFill>
            <a:srgbClr val="2E7D52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4CAF7D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097280" y="3474720"/>
            <a:ext cx="3840480" cy="3840480"/>
          </a:xfrm>
          <a:prstGeom prst="ellipse">
            <a:avLst/>
          </a:prstGeom>
          <a:solidFill>
            <a:srgbClr val="2E7D52">
              <a:alpha val="3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274320" y="4114800"/>
            <a:ext cx="2286000" cy="2286000"/>
          </a:xfrm>
          <a:prstGeom prst="ellipse">
            <a:avLst/>
          </a:prstGeom>
          <a:solidFill>
            <a:srgbClr val="4CAF7D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384048"/>
            <a:ext cx="1828800" cy="347472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3840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VIETBIZ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005840"/>
            <a:ext cx="8503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320040" y="212140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quý vị đã dành thời gian lắng nghe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0040" y="2651760"/>
            <a:ext cx="4114800" cy="36576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2816352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Chúng tôi sẵn sàng đồng hành cùng doanh nghiệp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 hành trình chuyển đổi số toàn diện.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3730752"/>
            <a:ext cx="2926080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373075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LIÊN HỆ TƯ VẤN NGAY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2651760"/>
            <a:ext cx="2971800" cy="2212848"/>
          </a:xfrm>
          <a:prstGeom prst="rect">
            <a:avLst/>
          </a:prstGeom>
          <a:solidFill>
            <a:srgbClr val="2E7D52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943600" y="2651760"/>
            <a:ext cx="2971800" cy="54864"/>
          </a:xfrm>
          <a:prstGeom prst="rect">
            <a:avLst/>
          </a:prstGeom>
          <a:solidFill>
            <a:srgbClr val="4CAF7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80760" y="2816352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</a:rPr>
              <a:t>📞  1900 xxxx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</a:rPr>
              <a:t>✉️   info@vietbiz.vn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</a:rPr>
              <a:t>🌐  www.vietbiz.vn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0040" y="4828032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8A6A"/>
                </a:solidFill>
              </a:rPr>
              <a:t>www.vietbiz.vn  |  Bản quyền thuộc Vietbiz © 2025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1816</Words>
  <Application>Microsoft Office PowerPoint</Application>
  <PresentationFormat>On-screen Show (16:9)</PresentationFormat>
  <Paragraphs>279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Giải Pháp Chuyển Đổi Số - Vietbiz</dc:title>
  <dc:subject>PptxGenJS Presentation</dc:subject>
  <dc:creator>Vietbiz</dc:creator>
  <cp:lastModifiedBy>Nguyễn Thái Học</cp:lastModifiedBy>
  <cp:revision>2</cp:revision>
  <dcterms:created xsi:type="dcterms:W3CDTF">2026-05-12T01:08:56Z</dcterms:created>
  <dcterms:modified xsi:type="dcterms:W3CDTF">2026-05-12T01:14:17Z</dcterms:modified>
</cp:coreProperties>
</file>