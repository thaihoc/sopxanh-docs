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08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377440" cy="2377440"/>
          </a:xfrm>
          <a:prstGeom prst="ellipse">
            <a:avLst/>
          </a:prstGeom>
          <a:solidFill>
            <a:srgbClr val="29ABE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3474720"/>
            <a:ext cx="2286000" cy="2286000"/>
          </a:xfrm>
          <a:prstGeom prst="ellipse">
            <a:avLst/>
          </a:prstGeom>
          <a:solidFill>
            <a:srgbClr val="0078D4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VNPT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400" dirty="0">
                <a:solidFill>
                  <a:srgbClr val="29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SỐ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DIỆN DOANH NGHIỆP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3127248"/>
            <a:ext cx="3474720" cy="36576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4F0"/>
                </a:solidFill>
              </a:rPr>
              <a:t>Tối ưu vận hành · Tăng trưởng bền vững · Dẫn đầu công nghệ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99CC"/>
                </a:solidFill>
              </a:rPr>
              <a:t>www.vnpt.vn  |  Bản quyền thuộc VNPT ©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197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Quản lý Nhân sự – HRM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Lương thưởng, chấm công, BHXH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118414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Kế toán tài chính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1449325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Báo cáo, tổng hợp, thuế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Quản lý Tài sản – Assets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TSCĐ, công cụ dụng cụ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34056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194310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CRM – Quan hệ Khách hàng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2208277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Chăm sóc, cơ hội bán hàng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734056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Quản lý Bán hàng &amp; POS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Sales, điểm bán lẻ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8386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269290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Quản lý Kho – Stock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2958085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Nhập xuất, kiểm kê, tồn kho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48386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3447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Sản xuất – Manufacturing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712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Lệnh SX, BOM, kiểm soát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23367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344271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Thương mại điện tử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3707893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Website, đơn hàng online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</a:rPr>
              <a:t>Quản lý Chất lượng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8680" y="44256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07A"/>
                </a:solidFill>
              </a:rPr>
              <a:t>QC, ISO, không phù hợp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QUẢN LÝ NHÂN SỰ &amp; TIỀN LƯƠNG – HRM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B3"/>
                </a:solidFill>
              </a:rPr>
              <a:t>Tính năng chính: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13716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Hồ sơ nhân sự điện tử – quản lý toàn bộ thông tin CBNV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Chấm công tự động: máy vân tay, app mobile, khuôn mặt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Tính lương tự động: lương cơ bản, OT, phụ cấp, KPI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Quản lý BHXH, BHYT, thuế TNCN tự động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Quản lý phép năm, nghỉ lễ, đơn từ online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Quy trình tuyển dụng &amp; onboarding số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Đánh giá hiệu suất KPI / OKR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Báo cáo nhân sự, biến động, chi phí nhân công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32120" y="1097280"/>
            <a:ext cx="3383280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23560" y="1188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70%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Tiết kiệm thời gian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481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2E0F7"/>
                </a:solidFill>
              </a:rPr>
              <a:t>giảm tác vụ tính lương thủ công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2359152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23560" y="245059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8D4"/>
                </a:solidFill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B3"/>
                </a:solidFill>
              </a:rPr>
              <a:t>Chính xác 99.9%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A"/>
                </a:solidFill>
              </a:rPr>
              <a:t>sai sót nhờ tự động hóa hoàn toàn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32120" y="3621024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23560" y="371246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8D4"/>
                </a:solidFill>
              </a:rPr>
              <a:t>24/7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3712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B3"/>
                </a:solidFill>
              </a:rPr>
              <a:t>Truy cập mọi lúc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005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A"/>
                </a:solidFill>
              </a:rPr>
              <a:t>qua app mobile iOS &amp; Android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KẾ TOÁN TÀI CHÍNH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73152" cy="157276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624" y="1316736"/>
            <a:ext cx="365760" cy="36576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Kế toán tổng hợp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Bút toán, sổ cái, kết chuyển tự động cuối kỳ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73152" cy="157276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64992" y="1316736"/>
            <a:ext cx="365760" cy="36576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64992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Công nợ phải thu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0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Theo dõi công nợ KH, nhắc nợ, đối chiếu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44768" y="1115568"/>
            <a:ext cx="73152" cy="157276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316736"/>
            <a:ext cx="365760" cy="36576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Công nợ phải trả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Quản lý nhà cung cấp, thanh toán, chiết khấu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2944368"/>
            <a:ext cx="73152" cy="157276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" y="3145536"/>
            <a:ext cx="365760" cy="36576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Ngân quỹ &amp; Ngân hàng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Thu chi tiền mặt, liên kết ngân hàng, đối chiếu sao kê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0" y="2944368"/>
            <a:ext cx="73152" cy="157276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64992" y="3145536"/>
            <a:ext cx="365760" cy="36576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6499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Báo cáo tài chính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40480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B01, B02, B03, B04 tự động theo TT133/TT200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44768" y="2944368"/>
            <a:ext cx="73152" cy="157276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09360" y="3145536"/>
            <a:ext cx="365760" cy="36576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936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8D4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84848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Kê khai thuế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84848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VAT, TNCN, TNDN – kết nối HTKK, VNPT-Invoice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QUẢN LÝ TÀI SẢN &amp; CÔNG CỤ DỤNG CỤ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416052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TÀI SẢN CỐ ĐỊNH (TSCĐ)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931920" cy="2743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Đăng ký, theo dõi vòng đời tài sản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Tính khấu hao tự động (đường thẳng, số dư giảm dần)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Quản lý vị trí, bộ phận sử dụng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Lịch sử bảo trì, sửa chữa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Kiểm kê định kỳ có hỗ trợ QR code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Thanh lý, điều chuyển tài sản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27448" y="1097280"/>
            <a:ext cx="4160520" cy="4572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CÔNG CỤ DỤNG CỤ (CCDC)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627632"/>
            <a:ext cx="3931920" cy="2743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Cấp phát, thu hồi công cụ dụng cụ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Phân bổ chi phí công cụ theo bộ phận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Cảnh báo công cụ hết hạn sử dụng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Báo cáo tồn kho công cụ theo kho/phòng ban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Tích hợp với kế toán để hạch toán tự động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Quét mã vạch khi xuất/nhập công cụ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CRM – QUẢN LÝ QUAN HỆ KHÁCH HÀNG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1645920" cy="530352"/>
          </a:xfrm>
          <a:prstGeom prst="rect">
            <a:avLst/>
          </a:prstGeom>
          <a:solidFill>
            <a:srgbClr val="E3F2F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0195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B3"/>
                </a:solidFill>
              </a:rPr>
              <a:t>Tiếp cận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93392" y="1097280"/>
            <a:ext cx="1645920" cy="530352"/>
          </a:xfrm>
          <a:prstGeom prst="rect">
            <a:avLst/>
          </a:prstGeom>
          <a:solidFill>
            <a:srgbClr val="D1E8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3931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B3"/>
                </a:solidFill>
              </a:rPr>
              <a:t>Tìm hiểu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0752" y="1097280"/>
            <a:ext cx="1645920" cy="530352"/>
          </a:xfrm>
          <a:prstGeom prst="rect">
            <a:avLst/>
          </a:prstGeom>
          <a:solidFill>
            <a:srgbClr val="B0D8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7667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3075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B3"/>
                </a:solidFill>
              </a:rPr>
              <a:t>Báo giá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1097280"/>
            <a:ext cx="1645920" cy="530352"/>
          </a:xfrm>
          <a:prstGeom prst="rect">
            <a:avLst/>
          </a:prstGeom>
          <a:solidFill>
            <a:srgbClr val="8DC7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1403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6811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B3"/>
                </a:solidFill>
              </a:rPr>
              <a:t>Đàm phán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1097280"/>
            <a:ext cx="1645920" cy="530352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0547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Chốt deal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1828800"/>
            <a:ext cx="425196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Quản lý hồ sơ khách hàng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0624" y="22860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Thông tin KH tập trung, lịch sử giao dịch, phân loại KH theo nhóm/tiềm năng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828800"/>
            <a:ext cx="425196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Cơ hội bán hàng (Pipeline)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73752" y="22860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Theo dõi cơ hội theo từng giai đoạn, phân công nhân viên, dự báo doanh thu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33756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337560"/>
            <a:ext cx="425196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Chăm sóc &amp; hậu mãi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0624" y="37947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Lịch nhắc nhở, email/SMS tự động, theo dõi hài lòng KH, khiếu nại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33756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337560"/>
            <a:ext cx="4251960" cy="54864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Báo cáo &amp; Phân tích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73752" y="37947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Dashboard trực quan, tỷ lệ chuyển đổi, hiệu suất sales, dự báo doanh số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QUẢN LÝ BÁN HÀNG &amp; ĐIỂM BÁN LẺ (POS)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20624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QUẢN LÝ BÁN HÀNG (SALES)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4005072" cy="2926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Báo giá, đơn đặt hàng, hợp đồng bán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Xuất hóa đơn GTGT điện tử (e-Invoice)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Theo dõi công nợ khách hàng theo đơn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Chính sách giá, chiết khấu, khuyến mãi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Quản lý hoa hồng &amp; doanh số nhân viên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Báo cáo bán hàng theo kênh/SP/KH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81728" y="107899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81728" y="1078992"/>
            <a:ext cx="4206240" cy="438912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0789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ĐIỂM BÁN LẺ (POS)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73168" y="1572768"/>
            <a:ext cx="4005072" cy="2926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Giao diện bán hàng nhanh trên tablet/PC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Quét mã vạch, hỗ trợ đa điểm bán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Thanh toán đa phương thức: tiền mặt, QR, thẻ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Quản lý ca làm việc, két tiền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In hóa đơn nhiệt tại quầy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2060"/>
                </a:solidFill>
              </a:rPr>
              <a:t>Đồng bộ tồn kho thời gian thực với kho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QUẢN LÝ KHO – STOCK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78892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Nhập – Xuất kho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Phiếu nhập/xuất kho điện tử, phê duyệt online, lịch sử giao dịch đầy đủ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78892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Quản lý đa kho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Nhiều kho, nhiều vị trí; chuyển kho nội bộ; theo dõi tồn theo từng kho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4768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44768" y="1115568"/>
            <a:ext cx="278892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Kiểm kê &amp; điều chỉnh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81928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Kiểm kê định kỳ, hỗ trợ thiết bị di động, tự động điều chỉnh chênh lệch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944368"/>
            <a:ext cx="2788920" cy="73152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Mã vạch / QR Code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Quản lý hàng hóa bằng barcode, QR; in tem nhãn; quét khi nhập/xuất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2944368"/>
            <a:ext cx="2788920" cy="73152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Cảnh báo tồn kho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Cảnh báo hết hàng, tồn kho tối thiểu/tối đa, cảnh báo hàng sắp hết hạn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4768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44768" y="2944368"/>
            <a:ext cx="2788920" cy="73152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Báo cáo kho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81928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Tồn kho tức thời, xuất nhập tồn, nhập/xuất theo nhà CC, theo sản phẩm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QUẢN LÝ SẢN XUẤT – MANUFACTURING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1572768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6B3"/>
                </a:solidFill>
              </a:rPr>
              <a:t>Kế hoạch SX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ABE2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572768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6B3"/>
                </a:solidFill>
              </a:rPr>
              <a:t>Lệnh SX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84448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ABE2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7328" y="1097280"/>
            <a:ext cx="1572768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67328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6B3"/>
                </a:solidFill>
              </a:rPr>
              <a:t>Định mức BOM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0096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ABE2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22976" y="1097280"/>
            <a:ext cx="1572768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22976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6B3"/>
                </a:solidFill>
              </a:rPr>
              <a:t>Theo dõi WIP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95744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ABE2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78624" y="1097280"/>
            <a:ext cx="15727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78624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Nhập kho TP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1828800"/>
            <a:ext cx="64008" cy="13898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Định mức sản xuất (BOM)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2286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Quản lý cấu trúc sản phẩm đa cấp, tính nguyên vật liệu tự động, kiểm soát tỷ lệ hao hụt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828800"/>
            <a:ext cx="64008" cy="13898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Lệnh sản xuất (Work Order)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2286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Tạo và theo dõi lệnh SX, phân công ca làm việc, cập nhật tiến độ theo thời gian thực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38328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383280"/>
            <a:ext cx="64008" cy="13898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Kiểm soát WIP &amp; NVL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38912" y="3840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Theo dõi nguyên vật liệu trong quá trình SX, cảnh báo thiếu hụt, tối ưu dự trữ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383280"/>
            <a:ext cx="64008" cy="13898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Phân tích hiệu suất SX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3840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OEE (hiệu suất thiết bị tổng thể), chi phí SX, năng suất theo ca/dây chuyền/nhà máy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TRANG THƯƠNG MẠI ĐIỆN TỬ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54864" cy="7040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B3"/>
                </a:solidFill>
              </a:rPr>
              <a:t>Website bán hàng chuyên nghiệp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2646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060"/>
                </a:solidFill>
              </a:rPr>
              <a:t>Thiết kế theo thương hiệu, chuẩn SEO, responsive mobile, tốc độ cao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869948"/>
            <a:ext cx="5074920" cy="704088"/>
          </a:xfrm>
          <a:prstGeom prst="rect">
            <a:avLst/>
          </a:prstGeom>
          <a:solidFill>
            <a:srgbClr val="E3F2FD"/>
          </a:solidFill>
          <a:ln w="12700">
            <a:solidFill>
              <a:srgbClr val="C5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869948"/>
            <a:ext cx="54864" cy="7040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943100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B3"/>
                </a:solidFill>
              </a:rPr>
              <a:t>Quản lý sản phẩm &amp; danh mục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1991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060"/>
                </a:solidFill>
              </a:rPr>
              <a:t>Nhiều biến thể (màu/size), ảnh đa chiều, mô tả SEO, giá riêng theo nhóm KH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642616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2642616"/>
            <a:ext cx="54864" cy="7040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71576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B3"/>
                </a:solidFill>
              </a:rPr>
              <a:t>Xử lý đơn hàng online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97180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060"/>
                </a:solidFill>
              </a:rPr>
              <a:t>Nhận đơn tự động, thông báo KH, tích hợp vận chuyển (GHN, GHTK, Viettel Post)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415284"/>
            <a:ext cx="5074920" cy="704088"/>
          </a:xfrm>
          <a:prstGeom prst="rect">
            <a:avLst/>
          </a:prstGeom>
          <a:solidFill>
            <a:srgbClr val="E3F2FD"/>
          </a:solidFill>
          <a:ln w="12700">
            <a:solidFill>
              <a:srgbClr val="C5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415284"/>
            <a:ext cx="54864" cy="7040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488436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B3"/>
                </a:solidFill>
              </a:rPr>
              <a:t>Thanh toán đa kênh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7444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060"/>
                </a:solidFill>
              </a:rPr>
              <a:t>VNPAY, Momo, ZaloPay, COD, chuyển khoản – đối soát tự động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4187952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4187952"/>
            <a:ext cx="54864" cy="704088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4261104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B3"/>
                </a:solidFill>
              </a:rPr>
              <a:t>Tích hợp sàn TMĐT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51713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060"/>
                </a:solidFill>
              </a:rPr>
              <a:t>Lazada, Shopee, Tiki – đồng bộ sản phẩm, đơn hàng, tồn kho tự động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1097280"/>
            <a:ext cx="3337560" cy="3675888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0" y="1188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TẠI SAO CẦN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TMĐT?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0" y="1938528"/>
            <a:ext cx="315468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0" y="198424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70%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601968" y="20299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Người tiêu dùng VN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mua hàng online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0" y="2898648"/>
            <a:ext cx="315468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0" y="294436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25%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601968" y="29900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Tăng trưởng TMĐT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mỗi năm tại VN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3858768"/>
            <a:ext cx="315468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0" y="390448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3×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601968" y="39502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Mở rộng thị trường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không giới hạn địa lý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|  QUẢN LÝ CHẤT LƯỢNG – QMS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926080" cy="2926080"/>
          </a:xfrm>
          <a:prstGeom prst="ellipse">
            <a:avLst/>
          </a:prstGeom>
          <a:solidFill>
            <a:srgbClr val="E3F2FD"/>
          </a:solidFill>
          <a:ln w="25400">
            <a:solidFill>
              <a:srgbClr val="A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08483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6B3"/>
                </a:solidFill>
              </a:rPr>
              <a:t>VÒNG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66B3"/>
                </a:solidFill>
              </a:rPr>
              <a:t>PDCA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66B3"/>
                </a:solidFill>
              </a:rPr>
              <a:t>CHẤT LƯỢNG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81447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8D4"/>
                </a:solidFill>
              </a:rPr>
              <a:t>PLAN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78D4"/>
                </a:solidFill>
              </a:rPr>
              <a:t>Lập kế hoạch chất lượng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93392" y="2188933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8D4"/>
                </a:solidFill>
              </a:rPr>
              <a:t>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78D4"/>
                </a:solidFill>
              </a:rPr>
              <a:t>Thực hiện kiểm soát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8D4"/>
                </a:solidFill>
              </a:rPr>
              <a:t>CHECK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78D4"/>
                </a:solidFill>
              </a:rPr>
              <a:t>Kiểm tra, đo lường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" y="214884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8D4"/>
                </a:solidFill>
              </a:rPr>
              <a:t>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78D4"/>
                </a:solidFill>
              </a:rPr>
              <a:t>Cải tiến liên tục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09728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47872" y="1097280"/>
            <a:ext cx="64008" cy="82296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03320" y="1188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Kiểm soát tài liệu ISO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1444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Quản lý tài liệu, phiên bản, phê duyệt theo quy trình ISO 9001:2015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205740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47872" y="2057400"/>
            <a:ext cx="64008" cy="82296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21488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Phiếu không phù hợp (NCR)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03320" y="24048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Ghi nhận sự không phù hợp, phân tích nguyên nhân, hành động khắc phục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47872" y="301752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47872" y="3017520"/>
            <a:ext cx="64008" cy="82296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03320" y="31089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Kiểm tra chất lượng (QC)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03320" y="3364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Lập kế hoạch kiểm tra, checklist QC theo công đoạn, lưu hồ sơ kiểm tra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47872" y="397764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47872" y="3977640"/>
            <a:ext cx="64008" cy="82296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03320" y="4069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B3"/>
                </a:solidFill>
              </a:rPr>
              <a:t>Cải tiến liên tục (CAPA)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03320" y="43251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Hành động khắc phục, phòng ngừa; theo dõi hiệu lực và đóng CAPA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7A"/>
                </a:solidFill>
              </a:rPr>
              <a:t>VNPT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66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0078D4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9ABE2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3474720"/>
            <a:ext cx="3840480" cy="3840480"/>
          </a:xfrm>
          <a:prstGeom prst="ellipse">
            <a:avLst/>
          </a:prstGeom>
          <a:solidFill>
            <a:srgbClr val="0078D4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274320" y="4114800"/>
            <a:ext cx="2286000" cy="2286000"/>
          </a:xfrm>
          <a:prstGeom prst="ellipse">
            <a:avLst/>
          </a:prstGeom>
          <a:solidFill>
            <a:srgbClr val="29ABE2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384048"/>
            <a:ext cx="1828800" cy="347472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384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VNPT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vị đã dành thời gian lắng nghe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4114800" cy="36576"/>
          </a:xfrm>
          <a:prstGeom prst="rect">
            <a:avLst/>
          </a:prstGeom>
          <a:solidFill>
            <a:srgbClr val="29AB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816352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sẵn sàng đồng hành cùng doanh nghiệp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hành trình chuyển đổi số toàn diện.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730752"/>
            <a:ext cx="29260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7307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LIÊN HỆ TƯ VẤN NGAY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7AB0"/>
                </a:solidFill>
              </a:rPr>
              <a:t>www.vnpt.vn  |  Bản quyền thuộc VNPT ©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1470</Words>
  <Application>Microsoft Office PowerPoint</Application>
  <PresentationFormat>On-screen Show (16:9)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Giải Pháp Chuyển Đổi Số - Vietbiz</dc:title>
  <dc:subject>PptxGenJS Presentation</dc:subject>
  <dc:creator>Vietbiz</dc:creator>
  <cp:lastModifiedBy>Nguyễn Thái Học</cp:lastModifiedBy>
  <cp:revision>4</cp:revision>
  <dcterms:created xsi:type="dcterms:W3CDTF">2026-05-12T01:08:56Z</dcterms:created>
  <dcterms:modified xsi:type="dcterms:W3CDTF">2026-05-12T08:21:39Z</dcterms:modified>
</cp:coreProperties>
</file>